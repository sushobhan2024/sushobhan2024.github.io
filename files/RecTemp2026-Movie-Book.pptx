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7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embeddedFontLst>
    <p:embeddedFont>
      <p:font typeface="Neue Haas Grotesk Text Pro" panose="020B0504020202020204" pitchFamily="34" charset="77"/>
      <p:regular r:id="rId14"/>
      <p:bold r:id="rId15"/>
      <p:italic r:id="rId16"/>
      <p:boldItalic r:id="rId17"/>
    </p:embeddedFont>
    <p:embeddedFont>
      <p:font typeface="Public Sans" pitchFamily="2" charset="77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86704"/>
  </p:normalViewPr>
  <p:slideViewPr>
    <p:cSldViewPr snapToGrid="0">
      <p:cViewPr varScale="1">
        <p:scale>
          <a:sx n="136" d="100"/>
          <a:sy n="136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AA0C3-E9E2-8443-8BF1-F83BF4B1E1C9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23F7B-FEC0-B64F-9112-927FCB8AD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4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work: Explores effect of movie releases on book readership.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9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Odyssey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was released, U.S. sales of the book rose by 76%. 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Bad Bunny performed at the Super Bowl halftime show, football fans who had never listened to him might have started streaming his music. 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Hamilton Musical was produced, people might have developed interest in historical sources.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during COVID, people started reading the book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Plague by Albert Camus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rtl="0"/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events happen outside the platform, and often outside the domain entirely. </a:t>
            </a: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call them exogenous events, and they can temporarily shift what users engage with.</a:t>
            </a:r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85879-CFA9-6840-BEEE-AB949738A2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80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exogenous events affect user activity and preferences.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first study, we look at one case: movie adaptations and book readership. 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when a movie based on a book is released, does readership of that book change?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does that change depend on the popularity of the book or the movie? 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do collaborative filtering models pick up a signal from that change?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answer these, we built a dataset of movie–book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9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61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48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84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03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9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59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49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23F7B-FEC0-B64F-9112-927FCB8ADC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7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828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10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7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9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94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29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75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0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8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37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6405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4416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41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28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1414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993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86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889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69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91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612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1086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754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8336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1264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504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62B3-C0FE-A647-9F84-EDAD4B7486A3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926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7000">
              <a:schemeClr val="bg1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9/17/26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33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  <p:sldLayoutId id="2147483992" r:id="rId17"/>
    <p:sldLayoutId id="2147483993" r:id="rId18"/>
    <p:sldLayoutId id="2147483994" r:id="rId19"/>
    <p:sldLayoutId id="2147483995" r:id="rId20"/>
    <p:sldLayoutId id="2147483996" r:id="rId21"/>
    <p:sldLayoutId id="2147483997" r:id="rId22"/>
    <p:sldLayoutId id="2147483998" r:id="rId23"/>
    <p:sldLayoutId id="2147483999" r:id="rId24"/>
    <p:sldLayoutId id="2147484000" r:id="rId25"/>
    <p:sldLayoutId id="2147484001" r:id="rId26"/>
    <p:sldLayoutId id="2147484002" r:id="rId27"/>
    <p:sldLayoutId id="2147484003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">
              <a:schemeClr val="bg1"/>
            </a:gs>
            <a:gs pos="55000">
              <a:schemeClr val="accent1">
                <a:lumMod val="30000"/>
                <a:lumOff val="70000"/>
              </a:schemeClr>
            </a:gs>
            <a:gs pos="100000">
              <a:schemeClr val="accent1">
                <a:lumMod val="41000"/>
              </a:schemeClr>
            </a:gs>
            <a:gs pos="47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1E3E-F8C4-5F59-5985-7B6D65C72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3192" y="1047885"/>
            <a:ext cx="10241268" cy="2323883"/>
          </a:xfrm>
        </p:spPr>
        <p:txBody>
          <a:bodyPr anchor="ctr">
            <a:noAutofit/>
          </a:bodyPr>
          <a:lstStyle/>
          <a:p>
            <a:r>
              <a:rPr lang="en-US" sz="6000" dirty="0">
                <a:latin typeface="Public Sans" pitchFamily="2" charset="77"/>
              </a:rPr>
              <a:t>Book Readership During Movie Releases: An Exploratory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8BCC4-2B92-F7F5-93D0-2CB45CFB8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1977" y="3629789"/>
            <a:ext cx="8108808" cy="987425"/>
          </a:xfrm>
        </p:spPr>
        <p:txBody>
          <a:bodyPr anchor="ctr">
            <a:noAutofit/>
          </a:bodyPr>
          <a:lstStyle/>
          <a:p>
            <a:r>
              <a:rPr lang="en-US" sz="2000" dirty="0">
                <a:latin typeface="Public Sans" pitchFamily="2" charset="77"/>
              </a:rPr>
              <a:t>Sushobhan Parajuli, Vittoria Vineis, Samira Vaez Barenji, and Michael D. Ekstrand </a:t>
            </a:r>
          </a:p>
          <a:p>
            <a:r>
              <a:rPr lang="en-US" sz="2000" dirty="0">
                <a:latin typeface="Public Sans" pitchFamily="2" charset="77"/>
              </a:rPr>
              <a:t>INERTIA Laboratory, Drexel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A22C-C437-2BCA-16B6-4281FA13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0B104-F038-1213-86B7-8305A226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10" y="5342674"/>
            <a:ext cx="2487087" cy="829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180016-B18F-5B13-6A38-994449C24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303" y="5342674"/>
            <a:ext cx="2759178" cy="829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1B35C-F3BF-E542-C79D-0763DC6E53CB}"/>
              </a:ext>
            </a:extLst>
          </p:cNvPr>
          <p:cNvSpPr txBox="1"/>
          <p:nvPr/>
        </p:nvSpPr>
        <p:spPr>
          <a:xfrm>
            <a:off x="8875987" y="5757188"/>
            <a:ext cx="2464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ublic Sans" pitchFamily="2" charset="77"/>
              </a:rPr>
              <a:t>https://bit.ly/3VziGMl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54E8B4-EB86-18D5-B22A-0FA788626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6524" y="4355341"/>
            <a:ext cx="1249206" cy="12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3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CCD8-4BF5-EFE7-4AD8-7B966B3AB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The Exogenous Event Problem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F6C50-8CA5-B2AC-82D4-EDDAE40CC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4555958"/>
            <a:ext cx="10840627" cy="18829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400" dirty="0">
                <a:latin typeface="Public Sans" pitchFamily="2" charset="77"/>
              </a:rPr>
              <a:t>“Nolan’s film could make </a:t>
            </a:r>
            <a:r>
              <a:rPr lang="en-US" sz="2400" i="1" dirty="0">
                <a:latin typeface="Public Sans" pitchFamily="2" charset="77"/>
              </a:rPr>
              <a:t>The Odyssey</a:t>
            </a:r>
            <a:r>
              <a:rPr lang="en-US" sz="2400" dirty="0">
                <a:latin typeface="Public Sans" pitchFamily="2" charset="77"/>
              </a:rPr>
              <a:t> the most sought-after book in the US” – </a:t>
            </a:r>
            <a:r>
              <a:rPr lang="en-US" sz="2400" i="1" dirty="0">
                <a:latin typeface="Public Sans" pitchFamily="2" charset="77"/>
              </a:rPr>
              <a:t>The Guardian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400" dirty="0">
                <a:latin typeface="Public Sans" pitchFamily="2" charset="77"/>
              </a:rPr>
              <a:t>Exogenous events like these </a:t>
            </a:r>
            <a:r>
              <a:rPr lang="en-US" sz="2400" b="1" dirty="0">
                <a:latin typeface="Public Sans" pitchFamily="2" charset="77"/>
              </a:rPr>
              <a:t>temporarily shift item relevance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464D26-3626-D7F8-7FDA-0EC87140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2F739D-C07E-1391-AB1C-88A2DDD5117A}"/>
              </a:ext>
            </a:extLst>
          </p:cNvPr>
          <p:cNvSpPr txBox="1"/>
          <p:nvPr/>
        </p:nvSpPr>
        <p:spPr>
          <a:xfrm>
            <a:off x="808638" y="2639363"/>
            <a:ext cx="10143668" cy="3503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E9431A-AFCA-C1EE-B693-C03F078AD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94" y="2097323"/>
            <a:ext cx="1369606" cy="21720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890B33-C6DC-C639-9176-0AC0C2068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375" y="2097323"/>
            <a:ext cx="2094969" cy="21035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5225FA-4793-BB6D-B7E5-B29852A45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342" y="2097323"/>
            <a:ext cx="1447550" cy="21713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8B9D6EA-BF25-3B68-6132-B1B59C506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9053" y="2097323"/>
            <a:ext cx="1730536" cy="216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042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BE02-0E33-076F-7D1C-955964F2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4B6E-DB4C-BC36-AA75-0323673C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880756"/>
            <a:ext cx="8216286" cy="455814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Public Sans" pitchFamily="2" charset="77"/>
              </a:rPr>
              <a:t>We narrow the exogenous-event question to one domain: </a:t>
            </a:r>
            <a:r>
              <a:rPr lang="en-US" sz="2400" b="1" dirty="0">
                <a:latin typeface="Public Sans" pitchFamily="2" charset="77"/>
              </a:rPr>
              <a:t>movie adaptations and book readership</a:t>
            </a:r>
          </a:p>
          <a:p>
            <a:pPr marL="914400" indent="-914400">
              <a:lnSpc>
                <a:spcPct val="150000"/>
              </a:lnSpc>
              <a:buNone/>
            </a:pPr>
            <a:r>
              <a:rPr lang="en-US" sz="2400" b="1" dirty="0">
                <a:latin typeface="Public Sans" pitchFamily="2" charset="77"/>
              </a:rPr>
              <a:t>RQ1	</a:t>
            </a:r>
            <a:r>
              <a:rPr lang="en-US" sz="2400" dirty="0">
                <a:latin typeface="Public Sans" pitchFamily="2" charset="77"/>
              </a:rPr>
              <a:t>How much does readership change?</a:t>
            </a:r>
          </a:p>
          <a:p>
            <a:pPr marL="914400" indent="-914400">
              <a:lnSpc>
                <a:spcPct val="150000"/>
              </a:lnSpc>
              <a:buNone/>
            </a:pPr>
            <a:r>
              <a:rPr lang="en-US" sz="2400" b="1" dirty="0">
                <a:latin typeface="Public Sans" pitchFamily="2" charset="77"/>
              </a:rPr>
              <a:t>RQ2	</a:t>
            </a:r>
            <a:r>
              <a:rPr lang="en-US" sz="2400" dirty="0">
                <a:latin typeface="Public Sans" pitchFamily="2" charset="77"/>
              </a:rPr>
              <a:t>Does the change depend on popularity?</a:t>
            </a:r>
          </a:p>
          <a:p>
            <a:pPr marL="914400" indent="-914400">
              <a:lnSpc>
                <a:spcPct val="150000"/>
              </a:lnSpc>
              <a:buNone/>
            </a:pPr>
            <a:r>
              <a:rPr lang="en-US" sz="2400" b="1" dirty="0">
                <a:latin typeface="Public Sans" pitchFamily="2" charset="77"/>
              </a:rPr>
              <a:t>RQ3	</a:t>
            </a:r>
            <a:r>
              <a:rPr lang="en-US" sz="2400" dirty="0">
                <a:latin typeface="Public Sans" pitchFamily="2" charset="77"/>
              </a:rPr>
              <a:t>Do collaborative filters pick up the signal?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2F55E-754C-AC11-7517-FBD00A02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8945D-280D-DEBB-D1A3-14E545372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599" y="4633539"/>
            <a:ext cx="1721642" cy="2197547"/>
          </a:xfrm>
          <a:prstGeom prst="rect">
            <a:avLst/>
          </a:prstGeom>
        </p:spPr>
      </p:pic>
      <p:sp>
        <p:nvSpPr>
          <p:cNvPr id="10" name="Down Arrow 9">
            <a:extLst>
              <a:ext uri="{FF2B5EF4-FFF2-40B4-BE49-F238E27FC236}">
                <a16:creationId xmlns:a16="http://schemas.microsoft.com/office/drawing/2014/main" id="{9F95EE97-366B-D83D-B66D-7F17BC245415}"/>
              </a:ext>
            </a:extLst>
          </p:cNvPr>
          <p:cNvSpPr/>
          <p:nvPr/>
        </p:nvSpPr>
        <p:spPr>
          <a:xfrm>
            <a:off x="10341947" y="3509818"/>
            <a:ext cx="427653" cy="8859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4C25E7-6356-13FD-54FE-A07F68E0D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3599" y="541699"/>
            <a:ext cx="1721642" cy="273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9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E423-ABD8-13D7-6FD7-E0070D2E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9E82B-42D3-E858-6852-D865142A2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UCSD Goodreads dataset: 228M+ user-book interactions across 876,145 users and 1.52M books (2007-2017)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U.S. movies from Wikidata and TMDB (≥1,000 votes) matched to their source books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Public Sans" pitchFamily="2" charset="7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>
                <a:latin typeface="Public Sans" pitchFamily="2" charset="77"/>
              </a:rPr>
              <a:t>287 movie-book pairs released between 2007 and 2017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4076B-FC41-8BD5-EA24-4A7FF831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0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1704-B000-D246-EA62-68AED432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Measuring Readership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DD33-13E4-0DE0-E152-2DB78F8BB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6-month event window (1 month before release to 5 months after), pre-release (-7 to -1 months) and post-release (+5 to +11 months) windows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261 adapted books </a:t>
            </a:r>
            <a:r>
              <a:rPr lang="en-US" sz="2400" b="1" dirty="0">
                <a:latin typeface="Public Sans" pitchFamily="2" charset="77"/>
              </a:rPr>
              <a:t>matched to non-adapted control books </a:t>
            </a:r>
            <a:r>
              <a:rPr lang="en-US" sz="2400" dirty="0">
                <a:latin typeface="Public Sans" pitchFamily="2" charset="77"/>
              </a:rPr>
              <a:t>via nearest-neighbor matching on pre-release readership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Difference-in-Difference (DiD) to isolate the release’s effect from baseline trends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B9A98-4E9C-7B57-D215-C8E3C02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6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32716-DE66-2561-DD26-24CA81E68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DE21-0EB7-BB1C-9453-FF6949C7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Public Sans" pitchFamily="2" charset="77"/>
              </a:rPr>
              <a:t>Movie Releases Increase Readership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FD20-DAFA-FFAC-332B-DDBD25C3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880756"/>
            <a:ext cx="4056741" cy="377089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Public Sans"/>
              </a:rPr>
              <a:t>Movie releases were associated with an estimated 144K new readers (p&lt;0.001)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50173-FBFC-58D8-A6FB-650CD4BF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B0982-4738-4925-5FAA-4BA8B06E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209" y="1880754"/>
            <a:ext cx="6565553" cy="361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5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10CB-D57E-860F-0A33-D6BFEC9B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Public Sans" pitchFamily="2" charset="77"/>
              </a:rPr>
              <a:t>Movie Releases Increase Readership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3978-5503-E361-66CC-009320E27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6" y="1880756"/>
            <a:ext cx="5007864" cy="400129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Public Sans" pitchFamily="2" charset="77"/>
              </a:rPr>
              <a:t>Readership shows a sharp increase around the release month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Public Sans" pitchFamily="2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CCFE-2B10-2836-CA12-08D7469F1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A8351-F0D4-5BD0-A9EC-029D26FEF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209" y="1880754"/>
            <a:ext cx="6565553" cy="3611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BAA27F-EF40-EC5C-6BDB-FA220DC147CA}"/>
              </a:ext>
            </a:extLst>
          </p:cNvPr>
          <p:cNvSpPr txBox="1"/>
          <p:nvPr/>
        </p:nvSpPr>
        <p:spPr>
          <a:xfrm>
            <a:off x="1088135" y="5355963"/>
            <a:ext cx="7372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ublic Sans" pitchFamily="2" charset="77"/>
              </a:rPr>
              <a:t>Analysis check: shifting the release date 12 months earlier produced no significant effect (p=0.14)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73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3C54-EBD9-39D8-7B9C-E0E54A4E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Public Sans" pitchFamily="2" charset="77"/>
              </a:rPr>
              <a:t>Absolute vs. Relative Readership Gains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D5BD-DB0D-2A65-40B2-47518EFEF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Already-popular books gained the largest total number of new readers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Lesser-known books saw proportional increases 5-6x larger than popular books relative to their baseline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Higher movie popularity correlated with larger readership spikes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D5E30-4CAD-8DE1-55B4-7601B7AE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04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F069-51E1-0346-48F9-646B420A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Models Miss the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9CF49-D7FC-B5AA-53E7-35D719528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ImplicitMF, BPR, SLIM, and a 12-month time-bounded Popularity baseline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Models retrieved 71%-91% of active movie books, median ranks were low, ranging between 255 and 301 for personalized models </a:t>
            </a:r>
            <a:r>
              <a:rPr lang="en-US" sz="2400" b="1" dirty="0">
                <a:latin typeface="Public Sans" pitchFamily="2" charset="77"/>
              </a:rPr>
              <a:t>(Top-2500 Retrieval)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Personalized models placed under 7% of movie-adapted book interactions in the</a:t>
            </a:r>
            <a:r>
              <a:rPr lang="en-US" sz="2400" b="1" dirty="0">
                <a:latin typeface="Public Sans" pitchFamily="2" charset="77"/>
              </a:rPr>
              <a:t> top-10 </a:t>
            </a:r>
            <a:r>
              <a:rPr lang="en-US" sz="2400" dirty="0">
                <a:latin typeface="Public Sans" pitchFamily="2" charset="77"/>
              </a:rPr>
              <a:t>during the release window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The Popularity placed 15.6% in the top 10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6EDA9-7655-5745-DDBA-E63C5C38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118E-FF58-9F32-3552-65F6EFC2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The Causal Effect on Model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132E-50F9-9346-7787-E0CB20905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Public Sans" pitchFamily="2" charset="77"/>
              </a:rPr>
              <a:t>Computed ATT for movie release on recommendation output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Personalized Models: near-zero standardized ATT (0.040-0.062), with 95% confidence intervals all spanning zero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Popularity Baseline: appears higher (ATT = 0.528), but this is inflated by near-zero score variance across users, and its CI includes zero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Takeaway: Collaborative filtering </a:t>
            </a:r>
            <a:r>
              <a:rPr lang="en-US" sz="2400" b="1" dirty="0">
                <a:latin typeface="Public Sans" pitchFamily="2" charset="77"/>
              </a:rPr>
              <a:t>does not implicitly raise </a:t>
            </a:r>
            <a:r>
              <a:rPr lang="en-US" sz="2400" dirty="0">
                <a:latin typeface="Public Sans" pitchFamily="2" charset="77"/>
              </a:rPr>
              <a:t>books during their movie release time based on interaction data alone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77CA2-1C15-BDC1-80A6-A6CEA88C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21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B089-491D-CF47-0A6B-952881BC4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Public Sans" pitchFamily="2" charset="77"/>
              </a:rPr>
              <a:t>Implications and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6079-A9BA-2366-066A-2CC2A460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Public Sans" pitchFamily="2" charset="77"/>
              </a:rPr>
              <a:t>Systems miss short-term, exogenous relevance shifts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Public Sans" pitchFamily="2" charset="77"/>
              </a:rPr>
              <a:t>Ideas: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Incorporate adaptation status and time-to-release directly as temporal item features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dirty="0">
                <a:latin typeface="Public Sans" pitchFamily="2" charset="77"/>
              </a:rPr>
              <a:t>Apply temporary re-ranking books to adapted titles during their movie release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15B5F-7C22-7580-0757-20057323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2C616-8E7F-5344-9C75-D50B10EEDCBD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3BD39-2990-60C5-0602-D2023B736039}"/>
              </a:ext>
            </a:extLst>
          </p:cNvPr>
          <p:cNvSpPr txBox="1"/>
          <p:nvPr/>
        </p:nvSpPr>
        <p:spPr>
          <a:xfrm>
            <a:off x="1451783" y="6115734"/>
            <a:ext cx="9852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Acknowledgements: NSF Grant No. IIS 24-09199			</a:t>
            </a:r>
            <a:r>
              <a:rPr lang="en-US" dirty="0">
                <a:latin typeface="Public Sans" pitchFamily="2" charset="77"/>
              </a:rPr>
              <a:t>https://bit.ly/3VziGMl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0E63B9-4711-5E16-A6DD-035A883F7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954" y="4937754"/>
            <a:ext cx="1249206" cy="124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42567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18414</TotalTime>
  <Words>729</Words>
  <Application>Microsoft Macintosh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Wingdings</vt:lpstr>
      <vt:lpstr>Aptos</vt:lpstr>
      <vt:lpstr>Public Sans</vt:lpstr>
      <vt:lpstr>Neue Haas Grotesk Text Pro</vt:lpstr>
      <vt:lpstr>Arial</vt:lpstr>
      <vt:lpstr>Dune</vt:lpstr>
      <vt:lpstr>Book Readership During Movie Releases: An Exploratory Analysis</vt:lpstr>
      <vt:lpstr>The Exogenous Event Problem</vt:lpstr>
      <vt:lpstr>Research Questions</vt:lpstr>
      <vt:lpstr>Datasets</vt:lpstr>
      <vt:lpstr>Measuring Readership Change</vt:lpstr>
      <vt:lpstr>Movie Releases Increase Readership</vt:lpstr>
      <vt:lpstr>Movie Releases Increase Readership</vt:lpstr>
      <vt:lpstr>Absolute vs. Relative Readership Gains </vt:lpstr>
      <vt:lpstr>Models Miss the Signal</vt:lpstr>
      <vt:lpstr>The Causal Effect on Model Scores</vt:lpstr>
      <vt:lpstr>Implications and 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Parajuli,Sushobhan</dc:creator>
  <cp:lastModifiedBy>Parajuli,Sushobhan</cp:lastModifiedBy>
  <cp:revision>3</cp:revision>
  <dcterms:created xsi:type="dcterms:W3CDTF">2026-09-15T18:55:11Z</dcterms:created>
  <dcterms:modified xsi:type="dcterms:W3CDTF">2026-09-28T15:42:12Z</dcterms:modified>
</cp:coreProperties>
</file>