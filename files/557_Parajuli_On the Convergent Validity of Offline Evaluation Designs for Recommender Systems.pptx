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78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Neue Haas Grotesk Text Pro" panose="020B0504020202020204" pitchFamily="34" charset="77"/>
      <p:regular r:id="rId15"/>
      <p:bold r:id="rId16"/>
      <p:italic r:id="rId17"/>
      <p:boldItalic r:id="rId18"/>
    </p:embeddedFont>
    <p:embeddedFont>
      <p:font typeface="Public Sans" pitchFamily="2" charset="77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CE759E-F069-CB44-A980-7B824C475D24}" v="10" dt="2026-09-24T06:23:16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927"/>
    <p:restoredTop sz="85307"/>
  </p:normalViewPr>
  <p:slideViewPr>
    <p:cSldViewPr snapToGrid="0">
      <p:cViewPr varScale="1">
        <p:scale>
          <a:sx n="133" d="100"/>
          <a:sy n="133" d="100"/>
        </p:scale>
        <p:origin x="14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95E22-D25A-7945-80F2-40326C68DDCB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85879-CFA9-6840-BEEE-AB949738A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55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99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80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34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85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25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46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89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84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51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53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79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27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67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75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04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39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73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430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057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4707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0521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678009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928883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615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1662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52127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780984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353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5797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09602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32829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9618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7276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0915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32576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76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19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966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47B62B3-C0FE-A647-9F84-EDAD4B7486A3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4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4" r:id="rId1"/>
    <p:sldLayoutId id="2147484785" r:id="rId2"/>
    <p:sldLayoutId id="2147484786" r:id="rId3"/>
    <p:sldLayoutId id="2147484787" r:id="rId4"/>
    <p:sldLayoutId id="2147484788" r:id="rId5"/>
    <p:sldLayoutId id="2147484789" r:id="rId6"/>
    <p:sldLayoutId id="2147484790" r:id="rId7"/>
    <p:sldLayoutId id="2147484791" r:id="rId8"/>
    <p:sldLayoutId id="2147484792" r:id="rId9"/>
    <p:sldLayoutId id="2147484793" r:id="rId10"/>
    <p:sldLayoutId id="2147484794" r:id="rId11"/>
    <p:sldLayoutId id="2147484795" r:id="rId12"/>
    <p:sldLayoutId id="2147484796" r:id="rId13"/>
    <p:sldLayoutId id="2147484797" r:id="rId14"/>
    <p:sldLayoutId id="2147484798" r:id="rId15"/>
    <p:sldLayoutId id="2147484799" r:id="rId16"/>
    <p:sldLayoutId id="2147484800" r:id="rId17"/>
    <p:sldLayoutId id="2147484801" r:id="rId18"/>
    <p:sldLayoutId id="2147484802" r:id="rId19"/>
    <p:sldLayoutId id="2147484803" r:id="rId20"/>
    <p:sldLayoutId id="2147484804" r:id="rId21"/>
    <p:sldLayoutId id="2147484805" r:id="rId22"/>
    <p:sldLayoutId id="2147484806" r:id="rId23"/>
    <p:sldLayoutId id="2147484807" r:id="rId24"/>
    <p:sldLayoutId id="2147484808" r:id="rId25"/>
    <p:sldLayoutId id="2147484809" r:id="rId26"/>
    <p:sldLayoutId id="2147484810" r:id="rId27"/>
    <p:sldLayoutId id="2147484811" r:id="rId28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1E3E-F8C4-5F59-5985-7B6D65C72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7538" y="1047885"/>
            <a:ext cx="10136922" cy="2323883"/>
          </a:xfrm>
        </p:spPr>
        <p:txBody>
          <a:bodyPr anchor="ctr">
            <a:noAutofit/>
          </a:bodyPr>
          <a:lstStyle/>
          <a:p>
            <a:r>
              <a:rPr lang="en-US" sz="6000" dirty="0">
                <a:latin typeface="Public Sans" pitchFamily="2" charset="77"/>
              </a:rPr>
              <a:t>On the Convergent Validity of Offline Evaluation Designs for Recommender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8BCC4-2B92-F7F5-93D0-2CB45CFB8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1212" y="3629789"/>
            <a:ext cx="8449573" cy="987425"/>
          </a:xfrm>
        </p:spPr>
        <p:txBody>
          <a:bodyPr anchor="ctr">
            <a:noAutofit/>
          </a:bodyPr>
          <a:lstStyle/>
          <a:p>
            <a:r>
              <a:rPr lang="en-US" sz="2000" dirty="0">
                <a:latin typeface="Public Sans" pitchFamily="2" charset="77"/>
              </a:rPr>
              <a:t>Sushobhan Parajuli, Samira Vaez Barenji, and Michael D. Ekstrand </a:t>
            </a:r>
          </a:p>
          <a:p>
            <a:r>
              <a:rPr lang="en-US" sz="2000" dirty="0">
                <a:latin typeface="Public Sans" pitchFamily="2" charset="77"/>
              </a:rPr>
              <a:t>INERTIA Laboratory, Drexel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4A22C-C437-2BCA-16B6-4281FA13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0B104-F038-1213-86B7-8305A226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710" y="5342674"/>
            <a:ext cx="2487087" cy="829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180016-B18F-5B13-6A38-994449C24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303" y="5342674"/>
            <a:ext cx="2759178" cy="829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33C4EC-4F4B-927C-7182-EA9BCF55E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9100" y="4480808"/>
            <a:ext cx="1276380" cy="12763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481FC45-C13B-595E-A197-7B000C469949}"/>
              </a:ext>
            </a:extLst>
          </p:cNvPr>
          <p:cNvSpPr txBox="1"/>
          <p:nvPr/>
        </p:nvSpPr>
        <p:spPr>
          <a:xfrm>
            <a:off x="8690184" y="5810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ublic Sans" pitchFamily="2" charset="77"/>
              </a:rPr>
              <a:t>https://</a:t>
            </a:r>
            <a:r>
              <a:rPr lang="en-US" dirty="0" err="1">
                <a:latin typeface="Public Sans" pitchFamily="2" charset="77"/>
              </a:rPr>
              <a:t>bit.ly</a:t>
            </a:r>
            <a:r>
              <a:rPr lang="en-US" dirty="0">
                <a:latin typeface="Public Sans" pitchFamily="2" charset="77"/>
              </a:rPr>
              <a:t>/4gyIXRP</a:t>
            </a:r>
          </a:p>
        </p:txBody>
      </p:sp>
    </p:spTree>
    <p:extLst>
      <p:ext uri="{BB962C8B-B14F-4D97-AF65-F5344CB8AC3E}">
        <p14:creationId xmlns:p14="http://schemas.microsoft.com/office/powerpoint/2010/main" val="323033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CCD8-4BF5-EFE7-4AD8-7B966B3A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Motivation: The Reality of Sparse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2F6C50-8CA5-B2AC-82D4-EDDAE40CC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The Tradition</a:t>
            </a:r>
            <a:r>
              <a:rPr lang="en-US" sz="2200" dirty="0">
                <a:latin typeface="Public Sans" pitchFamily="2" charset="77"/>
              </a:rPr>
              <a:t>: Most recommender systems research relies on offline evaluation using historical logs.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The Problem</a:t>
            </a:r>
            <a:r>
              <a:rPr lang="en-US" sz="2200" dirty="0">
                <a:latin typeface="Public Sans" pitchFamily="2" charset="77"/>
              </a:rPr>
              <a:t>: Historical data is sparse, biased, and Missing Not At Random (MNAR).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dirty="0">
                <a:latin typeface="Public Sans" pitchFamily="2" charset="77"/>
              </a:rPr>
              <a:t>We don’t know if “better” offline scores reflect true user preferences or just the biases of the evaluation setup.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464D26-3626-D7F8-7FDA-0EC87140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2F739D-C07E-1391-AB1C-88A2DDD5117A}"/>
              </a:ext>
            </a:extLst>
          </p:cNvPr>
          <p:cNvSpPr txBox="1"/>
          <p:nvPr/>
        </p:nvSpPr>
        <p:spPr>
          <a:xfrm>
            <a:off x="808638" y="2639363"/>
            <a:ext cx="10143668" cy="3503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22042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899B-19E9-F99E-459D-CEE589A5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Measurement &amp; Convergent Validity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37DB23-0FD9-F07F-32DE-D009E7121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Validity Framework</a:t>
            </a:r>
            <a:r>
              <a:rPr lang="en-US" sz="2200" dirty="0">
                <a:latin typeface="Public Sans" pitchFamily="2" charset="77"/>
              </a:rPr>
              <a:t>: Evaluation is a form of measurement; it must be both reliable and valid.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Internal vs. External Validity</a:t>
            </a:r>
            <a:r>
              <a:rPr lang="en-US" sz="2200" dirty="0">
                <a:latin typeface="Public Sans" pitchFamily="2" charset="77"/>
              </a:rPr>
              <a:t>: Does the metric measure what it’s supposed to (internal), and does it generalize to the real world (external)?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Convergent Validity</a:t>
            </a:r>
            <a:r>
              <a:rPr lang="en-US" sz="2200" dirty="0">
                <a:latin typeface="Public Sans" pitchFamily="2" charset="77"/>
              </a:rPr>
              <a:t>: Do two measures intended to measure same construct produce consistent results?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Our Approach</a:t>
            </a:r>
            <a:r>
              <a:rPr lang="en-US" sz="2200" dirty="0">
                <a:latin typeface="Public Sans" pitchFamily="2" charset="77"/>
              </a:rPr>
              <a:t>: Comparing </a:t>
            </a:r>
            <a:r>
              <a:rPr lang="en-US" sz="2200" b="1" dirty="0">
                <a:latin typeface="Public Sans" pitchFamily="2" charset="77"/>
              </a:rPr>
              <a:t>sparse offline evaluation </a:t>
            </a:r>
            <a:r>
              <a:rPr lang="en-US" sz="2200" dirty="0">
                <a:latin typeface="Public Sans" pitchFamily="2" charset="77"/>
              </a:rPr>
              <a:t>against </a:t>
            </a:r>
            <a:r>
              <a:rPr lang="en-US" sz="2200" b="1" dirty="0">
                <a:latin typeface="Public Sans" pitchFamily="2" charset="77"/>
              </a:rPr>
              <a:t>dense ground-truth evaluation.</a:t>
            </a:r>
            <a:endParaRPr lang="en-US" sz="2200" dirty="0">
              <a:latin typeface="Public Sans" pitchFamily="2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39F3E0-9E16-CD8D-F179-EDA9D379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9CFC3-FF4C-7690-76D5-22432C4D1073}"/>
              </a:ext>
            </a:extLst>
          </p:cNvPr>
          <p:cNvSpPr txBox="1"/>
          <p:nvPr/>
        </p:nvSpPr>
        <p:spPr>
          <a:xfrm>
            <a:off x="808638" y="2667454"/>
            <a:ext cx="10143668" cy="3751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88445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E36C-6396-4237-2985-565CDB16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Research Questions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081EA2A-77C6-7C14-D25C-64E9B02C2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RQ1</a:t>
            </a:r>
            <a:r>
              <a:rPr lang="en-US" sz="2200" dirty="0">
                <a:latin typeface="Public Sans" pitchFamily="2" charset="77"/>
              </a:rPr>
              <a:t>: To what extent do model rankings obtained from sparse offline evaluation correlate with rankings derived from dense ground-truth evaluation?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RQ2</a:t>
            </a:r>
            <a:r>
              <a:rPr lang="en-US" sz="2200" dirty="0">
                <a:latin typeface="Public Sans" pitchFamily="2" charset="77"/>
              </a:rPr>
              <a:t>: Do modifications to offline evaluation (such as sampling, data filtering, or list length) reduce the gap between these evaluations?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2200" dirty="0">
              <a:latin typeface="Public Sans" pitchFamily="2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1721-A57F-CD8A-0809-2EFF4BC0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32B007-7A00-B44C-E524-AD975FE679C0}"/>
              </a:ext>
            </a:extLst>
          </p:cNvPr>
          <p:cNvSpPr txBox="1"/>
          <p:nvPr/>
        </p:nvSpPr>
        <p:spPr>
          <a:xfrm>
            <a:off x="808638" y="206718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07825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14E7-D64D-A7CA-E6BE-A46E4B11E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Core Insight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FF1938-0C56-54B2-EB92-BC572E0B9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2200" dirty="0">
                <a:latin typeface="Public Sans" pitchFamily="2" charset="77"/>
              </a:rPr>
              <a:t>Different sparse designs disagree with each other, but </a:t>
            </a:r>
            <a:r>
              <a:rPr lang="en-US" sz="2200" b="1" dirty="0">
                <a:latin typeface="Public Sans" pitchFamily="2" charset="77"/>
              </a:rPr>
              <a:t>disagreement alone doesn’t say which is right.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Public Sans" pitchFamily="2" charset="77"/>
              </a:rPr>
              <a:t>What is </a:t>
            </a:r>
            <a:r>
              <a:rPr lang="en-US" sz="2200" b="1" dirty="0">
                <a:latin typeface="Public Sans" pitchFamily="2" charset="77"/>
              </a:rPr>
              <a:t>dense ground-truth</a:t>
            </a:r>
            <a:r>
              <a:rPr lang="en-US" sz="2200" dirty="0">
                <a:latin typeface="Public Sans" pitchFamily="2" charset="77"/>
              </a:rPr>
              <a:t>?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sz="2200" dirty="0">
                <a:latin typeface="Public Sans" pitchFamily="2" charset="77"/>
              </a:rPr>
              <a:t>MovieLens: 51 users directly rate </a:t>
            </a:r>
            <a:r>
              <a:rPr lang="en-US" sz="2200" b="1" dirty="0">
                <a:latin typeface="Public Sans" pitchFamily="2" charset="77"/>
              </a:rPr>
              <a:t>pooled recs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sz="2200" dirty="0" err="1">
                <a:latin typeface="Public Sans" pitchFamily="2" charset="77"/>
              </a:rPr>
              <a:t>KuaiRec</a:t>
            </a:r>
            <a:r>
              <a:rPr lang="en-US" sz="2200" dirty="0">
                <a:latin typeface="Public Sans" pitchFamily="2" charset="77"/>
              </a:rPr>
              <a:t>: a </a:t>
            </a:r>
            <a:r>
              <a:rPr lang="en-US" sz="2200" b="1" dirty="0">
                <a:latin typeface="Public Sans" pitchFamily="2" charset="77"/>
              </a:rPr>
              <a:t>small matrix</a:t>
            </a:r>
            <a:r>
              <a:rPr lang="en-US" sz="2200" dirty="0">
                <a:latin typeface="Public Sans" pitchFamily="2" charset="77"/>
              </a:rPr>
              <a:t>, near-full catalog exposure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Public Sans" pitchFamily="2" charset="77"/>
              </a:rPr>
              <a:t>A proxy for true preferences: </a:t>
            </a:r>
            <a:r>
              <a:rPr lang="en-US" sz="2200" b="1" dirty="0">
                <a:latin typeface="Public Sans" pitchFamily="2" charset="77"/>
              </a:rPr>
              <a:t>sparse-vs-dense agreement becomes a validity check</a:t>
            </a:r>
            <a:r>
              <a:rPr lang="en-US" sz="2200" dirty="0">
                <a:latin typeface="Public Sans" pitchFamily="2" charset="77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Public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8BB8D-22A6-B0C9-A33D-ABA40137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91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8116-861A-6886-A0C3-91CE2D11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Research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EBDDC9-CE53-1034-2515-F51BCFAB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2C02C616-8E7F-5344-9C75-D50B10EEDCB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E8AA5-311C-DACC-CD7A-E05FEA06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6226" y="1993529"/>
            <a:ext cx="10978250" cy="4280826"/>
          </a:xfrm>
          <a:prstGeom prst="rect">
            <a:avLst/>
          </a:prstGeom>
          <a:noFill/>
          <a:effectLst/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061F1BEE-C808-DAFA-DB31-515E934BCE91}"/>
              </a:ext>
            </a:extLst>
          </p:cNvPr>
          <p:cNvSpPr/>
          <p:nvPr/>
        </p:nvSpPr>
        <p:spPr>
          <a:xfrm>
            <a:off x="120112" y="2858815"/>
            <a:ext cx="1124607" cy="315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0C843D5-14A0-358C-9C40-9DB1B1771D6A}"/>
              </a:ext>
            </a:extLst>
          </p:cNvPr>
          <p:cNvSpPr/>
          <p:nvPr/>
        </p:nvSpPr>
        <p:spPr>
          <a:xfrm>
            <a:off x="120112" y="5263258"/>
            <a:ext cx="1124607" cy="315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D91EB7B2-63F1-EEDF-2E28-73209F23E115}"/>
              </a:ext>
            </a:extLst>
          </p:cNvPr>
          <p:cNvSpPr/>
          <p:nvPr/>
        </p:nvSpPr>
        <p:spPr>
          <a:xfrm rot="5400000">
            <a:off x="10789625" y="2059433"/>
            <a:ext cx="1124607" cy="315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02A26CD-2B3C-0EDF-6BC8-2C997F3DAFAB}"/>
              </a:ext>
            </a:extLst>
          </p:cNvPr>
          <p:cNvSpPr/>
          <p:nvPr/>
        </p:nvSpPr>
        <p:spPr>
          <a:xfrm rot="16200000">
            <a:off x="9649254" y="6113720"/>
            <a:ext cx="1124607" cy="315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4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ED847-5755-F743-D7B2-04DEA51D0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Methods: Models and Design Factors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A19FED-37B4-BEE2-E815-EDDCB76F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Models</a:t>
            </a:r>
            <a:r>
              <a:rPr lang="en-US" sz="2200" dirty="0">
                <a:latin typeface="Public Sans" pitchFamily="2" charset="77"/>
              </a:rPr>
              <a:t>: 45 base recommendation models, resulting in 97 (MovieLens-32M) and 123 (</a:t>
            </a:r>
            <a:r>
              <a:rPr lang="en-US" sz="2200" dirty="0" err="1">
                <a:latin typeface="Public Sans" pitchFamily="2" charset="77"/>
              </a:rPr>
              <a:t>KuaiRec</a:t>
            </a:r>
            <a:r>
              <a:rPr lang="en-US" sz="2200" dirty="0">
                <a:latin typeface="Public Sans" pitchFamily="2" charset="77"/>
              </a:rPr>
              <a:t>) model configurations.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200" b="1" dirty="0">
                <a:latin typeface="Public Sans" pitchFamily="2" charset="77"/>
              </a:rPr>
              <a:t>Varying Evaluation Designs</a:t>
            </a:r>
            <a:r>
              <a:rPr lang="en-US" sz="2200" dirty="0">
                <a:latin typeface="Public Sans" pitchFamily="2" charset="77"/>
              </a:rPr>
              <a:t>: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Public Sans" pitchFamily="2" charset="77"/>
              </a:rPr>
              <a:t>Candidate Sets</a:t>
            </a:r>
            <a:r>
              <a:rPr lang="en-US" sz="2200" dirty="0">
                <a:latin typeface="Public Sans" pitchFamily="2" charset="77"/>
              </a:rPr>
              <a:t>: Full set vs. Uniform (U-1000) vs. Popularity-weighted (P-1000) sampling.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Public Sans" pitchFamily="2" charset="77"/>
              </a:rPr>
              <a:t>Relevance Thresholds</a:t>
            </a:r>
            <a:r>
              <a:rPr lang="en-US" sz="2200" dirty="0">
                <a:latin typeface="Public Sans" pitchFamily="2" charset="77"/>
              </a:rPr>
              <a:t>: Binary vs. Graded feedback.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Public Sans" pitchFamily="2" charset="77"/>
              </a:rPr>
              <a:t>List Length</a:t>
            </a:r>
            <a:r>
              <a:rPr lang="en-US" sz="2200" dirty="0">
                <a:latin typeface="Public Sans" pitchFamily="2" charset="77"/>
              </a:rPr>
              <a:t>: Evaluating at cutoffs 10, 20, and 100.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E7E7DC-8A42-DE79-E5EE-FB79ADFE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142EE-8518-FF1C-DD08-28B7680348BC}"/>
              </a:ext>
            </a:extLst>
          </p:cNvPr>
          <p:cNvSpPr txBox="1"/>
          <p:nvPr/>
        </p:nvSpPr>
        <p:spPr>
          <a:xfrm>
            <a:off x="808638" y="2559235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510505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FE5DC-108D-09F1-5C2B-2FA5A8FA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Results: MovieLens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86E0B82E-A68A-F5AC-CE6F-AC6E9C79A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8136" y="1880756"/>
                <a:ext cx="6003650" cy="455814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b="1" dirty="0">
                    <a:latin typeface="Public Sans" pitchFamily="2" charset="77"/>
                  </a:rPr>
                  <a:t>Findings</a:t>
                </a:r>
                <a:r>
                  <a:rPr lang="en-US" sz="2200" dirty="0">
                    <a:latin typeface="Public Sans" pitchFamily="2" charset="77"/>
                  </a:rPr>
                  <a:t>: Sparse evaluation shows </a:t>
                </a:r>
                <a:r>
                  <a:rPr lang="en-US" sz="2200" b="1" dirty="0">
                    <a:latin typeface="Public Sans" pitchFamily="2" charset="77"/>
                  </a:rPr>
                  <a:t>weak positive correlation</a:t>
                </a:r>
                <a:r>
                  <a:rPr lang="en-US" sz="2200" dirty="0">
                    <a:latin typeface="Public Sans" pitchFamily="2" charset="77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b="1" dirty="0">
                    <a:latin typeface="Public Sans" pitchFamily="2" charset="77"/>
                  </a:rPr>
                  <a:t>Highest Alignment</a:t>
                </a:r>
                <a:r>
                  <a:rPr lang="en-US" sz="2200" dirty="0">
                    <a:latin typeface="Public Sans" pitchFamily="2" charset="77"/>
                  </a:rPr>
                  <a:t>: Occurs using </a:t>
                </a:r>
                <a:r>
                  <a:rPr lang="en-US" sz="2200" b="1" dirty="0">
                    <a:latin typeface="Public Sans" pitchFamily="2" charset="77"/>
                  </a:rPr>
                  <a:t>full candidate sets </a:t>
                </a:r>
                <a:r>
                  <a:rPr lang="en-US" sz="2200" dirty="0">
                    <a:latin typeface="Public Sans" pitchFamily="2" charset="77"/>
                  </a:rPr>
                  <a:t>at a longer list length (</a:t>
                </a:r>
                <a:r>
                  <a:rPr lang="en-US" sz="2200" i="1" dirty="0">
                    <a:latin typeface="Public Sans" pitchFamily="2" charset="77"/>
                  </a:rPr>
                  <a:t>k</a:t>
                </a:r>
                <a:r>
                  <a:rPr lang="en-US" sz="2200" dirty="0">
                    <a:latin typeface="Public Sans" pitchFamily="2" charset="77"/>
                  </a:rPr>
                  <a:t> = 100), reaching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200" dirty="0">
                    <a:latin typeface="Public Sans" pitchFamily="2" charset="77"/>
                  </a:rPr>
                  <a:t> 0.43.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Public Sans" pitchFamily="2" charset="77"/>
                  </a:rPr>
                  <a:t>Relative performance of explicit feedback models is better under dense evaluation.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>
                    <a:latin typeface="Public Sans" pitchFamily="2" charset="77"/>
                  </a:rPr>
                  <a:t>e.g., BiasedSVD is the best performer.</a:t>
                </a:r>
              </a:p>
              <a:p>
                <a:pPr>
                  <a:lnSpc>
                    <a:spcPct val="150000"/>
                  </a:lnSpc>
                </a:pPr>
                <a:endParaRPr lang="en-US" sz="2200" dirty="0">
                  <a:latin typeface="Public Sans" pitchFamily="2" charset="77"/>
                </a:endParaRPr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86E0B82E-A68A-F5AC-CE6F-AC6E9C79A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8136" y="1880756"/>
                <a:ext cx="6003650" cy="4558144"/>
              </a:xfrm>
              <a:blipFill>
                <a:blip r:embed="rId3"/>
                <a:stretch>
                  <a:fillRect l="-1266" b="-12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20725-B547-CC7E-E4C2-9F980BE5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4C63C-9B32-A773-B81A-482C438B6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196" y="2159809"/>
            <a:ext cx="4877445" cy="390466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1BCBFC8-A712-AA7F-FCF8-103F6537501D}"/>
              </a:ext>
            </a:extLst>
          </p:cNvPr>
          <p:cNvGrpSpPr/>
          <p:nvPr/>
        </p:nvGrpSpPr>
        <p:grpSpPr>
          <a:xfrm>
            <a:off x="8739739" y="1296063"/>
            <a:ext cx="1896177" cy="961572"/>
            <a:chOff x="8739739" y="1296063"/>
            <a:chExt cx="1896177" cy="961572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4BF1A1F8-7565-2A0A-3A70-5B758BB9636A}"/>
                </a:ext>
              </a:extLst>
            </p:cNvPr>
            <p:cNvSpPr/>
            <p:nvPr/>
          </p:nvSpPr>
          <p:spPr>
            <a:xfrm>
              <a:off x="9366649" y="1670494"/>
              <a:ext cx="125128" cy="58714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71BAC5-779A-B222-27FB-FA9BCF01E3F7}"/>
                </a:ext>
              </a:extLst>
            </p:cNvPr>
            <p:cNvSpPr txBox="1"/>
            <p:nvPr/>
          </p:nvSpPr>
          <p:spPr>
            <a:xfrm>
              <a:off x="8739739" y="1296063"/>
              <a:ext cx="1896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Public Sans" pitchFamily="2" charset="77"/>
                </a:rPr>
                <a:t>BiasedSVD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785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F141-2DEA-DCC8-812B-CE3F9187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Results: </a:t>
            </a:r>
            <a:r>
              <a:rPr lang="en-US" sz="4400" dirty="0" err="1">
                <a:latin typeface="Public Sans" pitchFamily="2" charset="77"/>
              </a:rPr>
              <a:t>KuaiRec</a:t>
            </a:r>
            <a:endParaRPr lang="en-US" sz="4400" dirty="0">
              <a:latin typeface="Public Sans" pitchFamily="2" charset="77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111DE67-E73A-C2B8-0CCB-E1D1B3BC4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880756"/>
            <a:ext cx="5968316" cy="45063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Ranking Inversion</a:t>
            </a:r>
            <a:r>
              <a:rPr lang="en-US" sz="2200" dirty="0">
                <a:latin typeface="Public Sans" pitchFamily="2" charset="77"/>
              </a:rPr>
              <a:t>: Sparse evaluation is </a:t>
            </a:r>
            <a:r>
              <a:rPr lang="en-US" sz="2200" b="1" dirty="0">
                <a:latin typeface="Public Sans" pitchFamily="2" charset="77"/>
              </a:rPr>
              <a:t>negatively correlated </a:t>
            </a:r>
            <a:r>
              <a:rPr lang="en-US" sz="2200" dirty="0">
                <a:latin typeface="Public Sans" pitchFamily="2" charset="77"/>
              </a:rPr>
              <a:t>with dense ground truth.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Key Insight</a:t>
            </a:r>
            <a:r>
              <a:rPr lang="en-US" sz="2200" dirty="0">
                <a:latin typeface="Public Sans" pitchFamily="2" charset="77"/>
              </a:rPr>
              <a:t>: Sparse evaluation inverts the dense ranking regardless of the design choice.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Implication</a:t>
            </a:r>
            <a:r>
              <a:rPr lang="en-US" sz="2200" dirty="0">
                <a:latin typeface="Public Sans" pitchFamily="2" charset="77"/>
              </a:rPr>
              <a:t>: Sparse best models are among the worst when measured against denser user feedback.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Public Sans" pitchFamily="2" charset="77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Public Sans" pitchFamily="2" charset="77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Public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C6A43-4933-B365-D79C-3C0C685B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34229-2271-964A-58EF-EF012F470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560" y="2131131"/>
            <a:ext cx="4847624" cy="3880786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9FCEF4A8-FD3D-B1DD-650A-4A18BBF0118D}"/>
              </a:ext>
            </a:extLst>
          </p:cNvPr>
          <p:cNvSpPr/>
          <p:nvPr/>
        </p:nvSpPr>
        <p:spPr>
          <a:xfrm rot="9955463">
            <a:off x="11588818" y="4189127"/>
            <a:ext cx="471638" cy="144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3B1C8FE-2BF3-2C69-8E6C-4B327D4C62DE}"/>
              </a:ext>
            </a:extLst>
          </p:cNvPr>
          <p:cNvSpPr/>
          <p:nvPr/>
        </p:nvSpPr>
        <p:spPr>
          <a:xfrm rot="9844937">
            <a:off x="7763921" y="2274918"/>
            <a:ext cx="521414" cy="1577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56B2-88C5-F369-40C4-6F9192C4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Findings on Evaluation Design Choices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7C627D-5EAD-7167-827E-0E35577A2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Candidate Sets</a:t>
            </a:r>
            <a:r>
              <a:rPr lang="en-US" sz="2200" dirty="0">
                <a:latin typeface="Public Sans" pitchFamily="2" charset="77"/>
              </a:rPr>
              <a:t>: Full candidate sets generally outperform sampled ones in correlating with dense data.</a:t>
            </a:r>
          </a:p>
          <a:p>
            <a:pPr marL="457200" lvl="1">
              <a:lnSpc>
                <a:spcPct val="150000"/>
              </a:lnSpc>
            </a:pPr>
            <a:r>
              <a:rPr lang="en-US" sz="2200" dirty="0">
                <a:latin typeface="Public Sans" pitchFamily="2" charset="77"/>
              </a:rPr>
              <a:t>Popularity-weighted sampling was useful for </a:t>
            </a:r>
            <a:r>
              <a:rPr lang="en-US" sz="2200" b="1" dirty="0">
                <a:latin typeface="Public Sans" pitchFamily="2" charset="77"/>
              </a:rPr>
              <a:t>short lists </a:t>
            </a:r>
            <a:r>
              <a:rPr lang="en-US" sz="2200" dirty="0">
                <a:latin typeface="Public Sans" pitchFamily="2" charset="77"/>
              </a:rPr>
              <a:t>on MovieLens.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Relevance Thresholds</a:t>
            </a:r>
            <a:r>
              <a:rPr lang="en-US" sz="2200" dirty="0">
                <a:latin typeface="Public Sans" pitchFamily="2" charset="77"/>
              </a:rPr>
              <a:t>: Binary thresholds generally produce higher correlations than graded evaluation on MovieLens.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List Length</a:t>
            </a:r>
            <a:r>
              <a:rPr lang="en-US" sz="2200" dirty="0">
                <a:latin typeface="Public Sans" pitchFamily="2" charset="77"/>
              </a:rPr>
              <a:t>: The length of the recommendation list has only a small effect on rank correlation.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Public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86D15-25D0-11F5-3FC6-C05BD7A7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73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bg1"/>
            </a:gs>
            <a:gs pos="31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F733-B974-9F94-2368-CC35CD63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Summary &amp; Takeaway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1093F2-74CF-EF60-D9B7-4FEDC6223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Validity is Dataset-Dependent</a:t>
            </a:r>
            <a:r>
              <a:rPr lang="en-US" sz="2200" dirty="0">
                <a:latin typeface="Public Sans" pitchFamily="2" charset="77"/>
              </a:rPr>
              <a:t>: Correlation ranges from weakly positive to strongly negative depending on the dataset.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Design Matters</a:t>
            </a:r>
            <a:r>
              <a:rPr lang="en-US" sz="2200" dirty="0">
                <a:latin typeface="Public Sans" pitchFamily="2" charset="77"/>
              </a:rPr>
              <a:t>: Model differences may be driven as much by evaluation protocol as by actual model effectiveness.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Public Sans" pitchFamily="2" charset="77"/>
              </a:rPr>
              <a:t>The Takeaway</a:t>
            </a:r>
            <a:r>
              <a:rPr lang="en-US" sz="2200" dirty="0">
                <a:latin typeface="Public Sans" pitchFamily="2" charset="77"/>
              </a:rPr>
              <a:t>: Researchers must look beyond sparse offline metrics; a model’s “success” on a sparse evaluation does not guarantee it reflects true user preferences.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97BA5-60E0-420B-A3F5-6595A643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BDC188-4C73-BB53-8BBD-5E6054BE5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469" y="5154363"/>
            <a:ext cx="1571093" cy="15710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49DD40-0204-77F2-C529-36D0A1733325}"/>
              </a:ext>
            </a:extLst>
          </p:cNvPr>
          <p:cNvSpPr txBox="1"/>
          <p:nvPr/>
        </p:nvSpPr>
        <p:spPr>
          <a:xfrm>
            <a:off x="1088134" y="6254234"/>
            <a:ext cx="10789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ublic Sans" pitchFamily="2" charset="77"/>
              </a:rPr>
              <a:t>Acknowledgements: NSF Grant No. IIS 24-09199		https://bit.ly/4gyIXRP</a:t>
            </a:r>
          </a:p>
        </p:txBody>
      </p:sp>
    </p:spTree>
    <p:extLst>
      <p:ext uri="{BB962C8B-B14F-4D97-AF65-F5344CB8AC3E}">
        <p14:creationId xmlns:p14="http://schemas.microsoft.com/office/powerpoint/2010/main" val="2491708413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426</TotalTime>
  <Words>628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Cambria Math</vt:lpstr>
      <vt:lpstr>Aptos</vt:lpstr>
      <vt:lpstr>Public Sans</vt:lpstr>
      <vt:lpstr>Neue Haas Grotesk Text Pro</vt:lpstr>
      <vt:lpstr>Arial</vt:lpstr>
      <vt:lpstr>Dune</vt:lpstr>
      <vt:lpstr>On the Convergent Validity of Offline Evaluation Designs for Recommender Systems</vt:lpstr>
      <vt:lpstr>Motivation: The Reality of Sparse Data</vt:lpstr>
      <vt:lpstr>Measurement &amp; Convergent Validity</vt:lpstr>
      <vt:lpstr>Research Questions</vt:lpstr>
      <vt:lpstr>Core Insight</vt:lpstr>
      <vt:lpstr>Research Design</vt:lpstr>
      <vt:lpstr>Methods: Models and Design Factors</vt:lpstr>
      <vt:lpstr>Results: MovieLens</vt:lpstr>
      <vt:lpstr>Results: KuaiRec</vt:lpstr>
      <vt:lpstr>Findings on Evaluation Design Choices</vt:lpstr>
      <vt:lpstr>Summary &amp;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Parajuli,Sushobhan</dc:creator>
  <cp:lastModifiedBy>Parajuli,Sushobhan</cp:lastModifiedBy>
  <cp:revision>2</cp:revision>
  <dcterms:created xsi:type="dcterms:W3CDTF">2026-08-02T09:46:55Z</dcterms:created>
  <dcterms:modified xsi:type="dcterms:W3CDTF">2026-09-24T14:34:18Z</dcterms:modified>
</cp:coreProperties>
</file>